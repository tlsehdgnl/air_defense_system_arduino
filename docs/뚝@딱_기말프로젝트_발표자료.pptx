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5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510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231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60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782E7A21-5BA8-4C4C-9705-3A1EA342AD8A}" type="datetime1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217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825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740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94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801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248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CE6CA204-B091-40ED-8158-331EE628B522}" type="datetime1">
              <a:rPr lang="en-US" smtClean="0"/>
              <a:t>12/7/2025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759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616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99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1653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3443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1416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836D543-476D-434F-B209-1A114B2E3F04}" type="datetime1">
              <a:rPr lang="en-US" smtClean="0"/>
              <a:t>12/7/2025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2553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12/7/2025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8529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30F2F577-5BDA-4749-9F3F-0D340DC0D6A8}" type="datetime1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82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12/7/2025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221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7931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76A7CFE7-E645-4439-AA6B-DA8CF856D63E}" type="datetime1">
              <a:rPr lang="en-US" smtClean="0"/>
              <a:t>12/7/2025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854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0384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D3F6A089-BE3E-4BB0-98EE-FDF712FF3613}" type="datetime1">
              <a:rPr lang="en-US" smtClean="0"/>
              <a:t>12/7/2025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9537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AC101298-AE91-4071-9C72-5A98117ABE14}" type="datetime1">
              <a:rPr lang="en-US" smtClean="0"/>
              <a:t>12/7/2025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0037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ABE4333-790C-44CD-B503-F52418ED809A}" type="datetime1">
              <a:rPr lang="en-US" smtClean="0"/>
              <a:t>12/7/2025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1357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111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12/7/2025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6968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12/7/2025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3119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3148FABB-02FF-476F-AB37-BDD0E354E780}" type="datetime1">
              <a:rPr lang="en-US" smtClean="0"/>
              <a:t>12/7/2025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1987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1804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4412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0125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0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95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7692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1636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484169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936008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5306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8" y="5431536"/>
            <a:ext cx="9021471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0201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170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5913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70143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539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5607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31507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7165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3378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7390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005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896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58" r:id="rId2"/>
    <p:sldLayoutId id="2147483760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  <p:sldLayoutId id="2147483738" r:id="rId30"/>
    <p:sldLayoutId id="2147483739" r:id="rId31"/>
    <p:sldLayoutId id="2147483740" r:id="rId32"/>
    <p:sldLayoutId id="2147483741" r:id="rId33"/>
    <p:sldLayoutId id="2147483742" r:id="rId34"/>
    <p:sldLayoutId id="2147483743" r:id="rId35"/>
    <p:sldLayoutId id="2147483744" r:id="rId36"/>
    <p:sldLayoutId id="2147483745" r:id="rId37"/>
    <p:sldLayoutId id="2147483746" r:id="rId38"/>
    <p:sldLayoutId id="2147483747" r:id="rId39"/>
    <p:sldLayoutId id="2147483748" r:id="rId40"/>
    <p:sldLayoutId id="2147483749" r:id="rId41"/>
    <p:sldLayoutId id="2147483750" r:id="rId42"/>
    <p:sldLayoutId id="2147483751" r:id="rId43"/>
    <p:sldLayoutId id="2147483752" r:id="rId44"/>
    <p:sldLayoutId id="2147483753" r:id="rId45"/>
    <p:sldLayoutId id="2147483754" r:id="rId46"/>
    <p:sldLayoutId id="2147483755" r:id="rId47"/>
    <p:sldLayoutId id="2147483756" r:id="rId48"/>
    <p:sldLayoutId id="2147483757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5AE71-5900-7639-1A90-2812E02180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334" y="2220666"/>
            <a:ext cx="4654296" cy="3112419"/>
          </a:xfrm>
        </p:spPr>
        <p:txBody>
          <a:bodyPr anchor="t">
            <a:normAutofit/>
          </a:bodyPr>
          <a:lstStyle/>
          <a:p>
            <a:r>
              <a:rPr lang="ko-KR" altLang="en-US" sz="3200" dirty="0"/>
              <a:t>물체 감지 레이더</a:t>
            </a:r>
            <a:r>
              <a:rPr lang="en-US" altLang="ko-KR" sz="3200" dirty="0"/>
              <a:t>(</a:t>
            </a:r>
            <a:r>
              <a:rPr lang="ko-KR" altLang="en-US" sz="3200" dirty="0"/>
              <a:t>방공망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br>
              <a:rPr lang="en-US" altLang="ko-KR" sz="3200" dirty="0"/>
            </a:br>
            <a:br>
              <a:rPr lang="en-US" altLang="ko-KR" sz="3200" dirty="0"/>
            </a:br>
            <a:r>
              <a:rPr lang="ko-KR" altLang="en-US" sz="3200" dirty="0"/>
              <a:t>팀</a:t>
            </a:r>
            <a:r>
              <a:rPr lang="en-US" altLang="ko-KR" sz="3200" dirty="0"/>
              <a:t> : </a:t>
            </a:r>
            <a:r>
              <a:rPr lang="ko-KR" altLang="en-US" sz="3200" dirty="0"/>
              <a:t>뚝</a:t>
            </a:r>
            <a:r>
              <a:rPr lang="en-US" altLang="ko-KR" sz="3200" dirty="0"/>
              <a:t>@</a:t>
            </a:r>
            <a:r>
              <a:rPr lang="ko-KR" altLang="en-US" sz="3200" dirty="0"/>
              <a:t>딱 </a:t>
            </a:r>
            <a:br>
              <a:rPr lang="en-US" altLang="ko-KR" sz="3200" dirty="0"/>
            </a:br>
            <a:r>
              <a:rPr lang="ko-KR" altLang="en-US" sz="3200" dirty="0"/>
              <a:t>기말 프로젝트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79C5EC5-1B9E-26DD-F2D8-8E3B79B5DB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14" y="5821547"/>
            <a:ext cx="1977886" cy="1145783"/>
          </a:xfrm>
        </p:spPr>
        <p:txBody>
          <a:bodyPr anchor="b">
            <a:normAutofit fontScale="55000" lnSpcReduction="20000"/>
          </a:bodyPr>
          <a:lstStyle/>
          <a:p>
            <a:pPr>
              <a:lnSpc>
                <a:spcPct val="110000"/>
              </a:lnSpc>
            </a:pPr>
            <a:endParaRPr lang="en-US" altLang="ko-KR" dirty="0"/>
          </a:p>
          <a:p>
            <a:pPr>
              <a:lnSpc>
                <a:spcPct val="110000"/>
              </a:lnSpc>
            </a:pPr>
            <a:r>
              <a:rPr lang="en-US" altLang="ko-KR" dirty="0"/>
              <a:t>20235197 </a:t>
            </a:r>
            <a:r>
              <a:rPr lang="ko-KR" altLang="en-US" dirty="0"/>
              <a:t>신동휘</a:t>
            </a:r>
            <a:r>
              <a:rPr lang="en-US" altLang="ko-KR" dirty="0"/>
              <a:t>(</a:t>
            </a:r>
            <a:r>
              <a:rPr lang="ko-KR" altLang="en-US" dirty="0"/>
              <a:t>팀장</a:t>
            </a:r>
            <a:r>
              <a:rPr lang="en-US" altLang="ko-KR" dirty="0"/>
              <a:t>)</a:t>
            </a:r>
          </a:p>
          <a:p>
            <a:pPr>
              <a:lnSpc>
                <a:spcPct val="110000"/>
              </a:lnSpc>
            </a:pPr>
            <a:r>
              <a:rPr lang="en-US" altLang="ko-KR" dirty="0"/>
              <a:t>20235220 </a:t>
            </a:r>
            <a:r>
              <a:rPr lang="ko-KR" altLang="en-US" dirty="0"/>
              <a:t>윤태웅</a:t>
            </a:r>
            <a:endParaRPr lang="en-US" altLang="ko-KR" dirty="0"/>
          </a:p>
          <a:p>
            <a:pPr>
              <a:lnSpc>
                <a:spcPct val="110000"/>
              </a:lnSpc>
            </a:pPr>
            <a:r>
              <a:rPr lang="en-US" altLang="ko-KR" dirty="0"/>
              <a:t>20233015 </a:t>
            </a:r>
            <a:r>
              <a:rPr lang="ko-KR" altLang="en-US" dirty="0"/>
              <a:t>이종현</a:t>
            </a:r>
            <a:endParaRPr lang="en-US" altLang="ko-KR" dirty="0"/>
          </a:p>
          <a:p>
            <a:pPr>
              <a:lnSpc>
                <a:spcPct val="110000"/>
              </a:lnSpc>
            </a:pPr>
            <a:endParaRPr lang="ko-KR" alt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6A04E7C-DD37-22C0-646C-4647AFFD15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14" r="30186"/>
          <a:stretch>
            <a:fillRect/>
          </a:stretch>
        </p:blipFill>
        <p:spPr>
          <a:xfrm>
            <a:off x="5596128" y="10"/>
            <a:ext cx="6595872" cy="6857990"/>
          </a:xfrm>
          <a:prstGeom prst="rect">
            <a:avLst/>
          </a:prstGeom>
          <a:noFill/>
        </p:spPr>
      </p:pic>
      <p:pic>
        <p:nvPicPr>
          <p:cNvPr id="4" name="그림 3" descr="물체 감지 레이더와 방공망을 주제로, 현대적인 레이더 시스템을 시각적으로 강조한 이미지를 제작한다. 중앙에는 회전하는 레이더 안테나와 녹색 레이더 스크린을 배치하고, 스크린 위에는 탐지되는 여러 물체(비행기, 드론 등)가 점 또는 아이콘으로 표시되도록 한다. 배경은 어두운 군사용 톤을 사용하며, 레이더의 빛이 퍼지는 효과와 전자 신호가 흐르는 느낌을 추가한다. 이미지 전체에 기술적이고 미래지향적인 분위기를 주고, 팀명 '뚝@딱'과 프로젝트명, 발표자 이름을 세련된 산세리프체로 배치한다.">
            <a:extLst>
              <a:ext uri="{FF2B5EF4-FFF2-40B4-BE49-F238E27FC236}">
                <a16:creationId xmlns:a16="http://schemas.microsoft.com/office/drawing/2014/main" id="{BE56D71B-95F6-F4DB-CA69-10C87F339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-1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869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F4EEE-797C-3FAB-9A87-8302DF6D7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 dirty="0"/>
              <a:t>주제 선정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554166-06CE-AAAD-11E4-B01D9EA63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800" b="1" dirty="0"/>
          </a:p>
          <a:p>
            <a:pPr marL="0" indent="0">
              <a:buNone/>
            </a:pPr>
            <a:r>
              <a:rPr lang="en-US" altLang="ko-KR" sz="2800" b="1" dirty="0"/>
              <a:t>1. </a:t>
            </a:r>
            <a:r>
              <a:rPr lang="ko-KR" altLang="en-US" sz="2800" b="1" dirty="0"/>
              <a:t>여러 기술들을 실제로 적용해볼 수 있는 프로젝트</a:t>
            </a:r>
            <a:endParaRPr lang="en-US" altLang="ko-KR" sz="2800" b="1" dirty="0"/>
          </a:p>
          <a:p>
            <a:endParaRPr lang="en-US" altLang="ko-KR" sz="2800" b="1" dirty="0"/>
          </a:p>
          <a:p>
            <a:pPr marL="0" indent="0">
              <a:buNone/>
            </a:pPr>
            <a:r>
              <a:rPr lang="en-US" altLang="ko-KR" sz="2800" b="1" dirty="0"/>
              <a:t>2. </a:t>
            </a:r>
            <a:r>
              <a:rPr lang="ko-KR" altLang="en-US" sz="2800" b="1" dirty="0"/>
              <a:t>거리 감지</a:t>
            </a:r>
            <a:r>
              <a:rPr lang="en-US" altLang="ko-KR" sz="2800" b="1" dirty="0"/>
              <a:t>, </a:t>
            </a:r>
            <a:r>
              <a:rPr lang="ko-KR" altLang="en-US" sz="2800" b="1" dirty="0"/>
              <a:t>탐지 시스템</a:t>
            </a:r>
            <a:r>
              <a:rPr lang="en-US" altLang="ko-KR" sz="2800" b="1" dirty="0"/>
              <a:t>(</a:t>
            </a:r>
            <a:r>
              <a:rPr lang="ko-KR" altLang="en-US" sz="2800" b="1" dirty="0"/>
              <a:t>방공망</a:t>
            </a:r>
            <a:r>
              <a:rPr lang="en-US" altLang="ko-KR" sz="2800" b="1" dirty="0"/>
              <a:t>/</a:t>
            </a:r>
            <a:r>
              <a:rPr lang="ko-KR" altLang="en-US" sz="2800" b="1" dirty="0"/>
              <a:t>레이더</a:t>
            </a:r>
            <a:r>
              <a:rPr lang="en-US" altLang="ko-KR" sz="2800" b="1" dirty="0"/>
              <a:t>) </a:t>
            </a:r>
            <a:r>
              <a:rPr lang="ko-KR" altLang="en-US" sz="2800" b="1" dirty="0"/>
              <a:t>구현이 재미있어 보임</a:t>
            </a:r>
            <a:endParaRPr lang="en-US" altLang="ko-KR" sz="2800" b="1" dirty="0"/>
          </a:p>
          <a:p>
            <a:endParaRPr lang="en-US" altLang="ko-KR" sz="2800" b="1" dirty="0"/>
          </a:p>
          <a:p>
            <a:pPr marL="0" indent="0">
              <a:buNone/>
            </a:pPr>
            <a:r>
              <a:rPr lang="en-US" altLang="ko-KR" sz="2800" b="1" dirty="0"/>
              <a:t>3. </a:t>
            </a:r>
            <a:r>
              <a:rPr lang="ko-KR" altLang="en-US" sz="2800" b="1" dirty="0"/>
              <a:t>배운 내용을 종합적으로 실습 할 수 있음</a:t>
            </a:r>
          </a:p>
        </p:txBody>
      </p:sp>
    </p:spTree>
    <p:extLst>
      <p:ext uri="{BB962C8B-B14F-4D97-AF65-F5344CB8AC3E}">
        <p14:creationId xmlns:p14="http://schemas.microsoft.com/office/powerpoint/2010/main" val="673238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24CE06-A162-E563-11D6-1C00190E7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물체 감지 레이더망</a:t>
            </a:r>
            <a:r>
              <a:rPr lang="en-US" altLang="ko-KR" dirty="0"/>
              <a:t>(</a:t>
            </a:r>
            <a:r>
              <a:rPr lang="ko-KR" altLang="en-US" dirty="0"/>
              <a:t>방공망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466A25-D6A9-3218-3FBF-50A8C0618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709446"/>
            <a:ext cx="5483353" cy="261792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ko-KR" altLang="en-US" sz="3200" b="1" dirty="0"/>
              <a:t>전파</a:t>
            </a:r>
            <a:r>
              <a:rPr lang="en-US" altLang="ko-KR" sz="3200" b="1" dirty="0"/>
              <a:t>, </a:t>
            </a:r>
            <a:r>
              <a:rPr lang="ko-KR" altLang="en-US" sz="3200" b="1" dirty="0"/>
              <a:t>초음파 등을 사용하여 물체의</a:t>
            </a:r>
            <a:r>
              <a:rPr lang="en-US" altLang="ko-KR" sz="3200" b="1" dirty="0"/>
              <a:t> </a:t>
            </a:r>
            <a:r>
              <a:rPr lang="ko-KR" altLang="en-US" sz="3200" b="1" dirty="0"/>
              <a:t>거리</a:t>
            </a:r>
            <a:r>
              <a:rPr lang="en-US" altLang="ko-KR" sz="3200" b="1" dirty="0"/>
              <a:t>, </a:t>
            </a:r>
            <a:r>
              <a:rPr lang="ko-KR" altLang="en-US" sz="3200" b="1" dirty="0"/>
              <a:t>방향</a:t>
            </a:r>
            <a:r>
              <a:rPr lang="en-US" altLang="ko-KR" sz="3200" b="1" dirty="0"/>
              <a:t>, </a:t>
            </a:r>
            <a:r>
              <a:rPr lang="ko-KR" altLang="en-US" sz="3200" b="1" dirty="0"/>
              <a:t>각도 그리고 속도 등을 측정하는 탐지 시스템</a:t>
            </a:r>
          </a:p>
        </p:txBody>
      </p:sp>
      <p:pic>
        <p:nvPicPr>
          <p:cNvPr id="1026" name="Picture 2" descr="레이더 센서는 잊어라! 벽 투시하는 AI 등장 &lt; AI기술 &lt; 기사본문 - AI타임스">
            <a:extLst>
              <a:ext uri="{FF2B5EF4-FFF2-40B4-BE49-F238E27FC236}">
                <a16:creationId xmlns:a16="http://schemas.microsoft.com/office/drawing/2014/main" id="{4C22DE9B-B92F-DA04-D194-71539AAF8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0866" y="1869321"/>
            <a:ext cx="5715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5815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A47873-1B48-021D-2A71-2CA3C28DA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목적 및 기대 효과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04CE8A-D568-B50F-625A-1528659C1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89" y="1457115"/>
            <a:ext cx="5483353" cy="4593828"/>
          </a:xfrm>
        </p:spPr>
        <p:txBody>
          <a:bodyPr/>
          <a:lstStyle/>
          <a:p>
            <a:pPr marL="0" indent="0" algn="ctr">
              <a:buNone/>
            </a:pPr>
            <a:endParaRPr lang="en-US" altLang="ko-KR" dirty="0"/>
          </a:p>
          <a:p>
            <a:pPr marL="0" indent="0" algn="ctr">
              <a:buNone/>
            </a:pPr>
            <a:r>
              <a:rPr lang="ko-KR" altLang="en-US" b="1" dirty="0"/>
              <a:t>목적</a:t>
            </a:r>
            <a:endParaRPr lang="en-US" altLang="ko-KR" b="1" dirty="0"/>
          </a:p>
          <a:p>
            <a:pPr marL="0" indent="0" algn="ctr">
              <a:buNone/>
            </a:pPr>
            <a:r>
              <a:rPr lang="ko-KR" altLang="en-US" sz="1600" dirty="0" err="1"/>
              <a:t>아두이노를</a:t>
            </a:r>
            <a:r>
              <a:rPr lang="ko-KR" altLang="en-US" sz="1600" dirty="0"/>
              <a:t> 이용하여 초음파 센서 기반의 물체 감지 레이더 시스템을 구현하고</a:t>
            </a:r>
            <a:r>
              <a:rPr lang="en-US" altLang="ko-KR" sz="1600" dirty="0"/>
              <a:t>, </a:t>
            </a:r>
            <a:r>
              <a:rPr lang="ko-KR" altLang="en-US" sz="1600" dirty="0"/>
              <a:t>방공망의 기초 원리</a:t>
            </a:r>
            <a:r>
              <a:rPr lang="en-US" altLang="ko-KR" sz="1600" dirty="0"/>
              <a:t>(</a:t>
            </a:r>
            <a:r>
              <a:rPr lang="ko-KR" altLang="en-US" sz="1600" dirty="0"/>
              <a:t>물체 탐지 및 스캐닝</a:t>
            </a:r>
            <a:r>
              <a:rPr lang="en-US" altLang="ko-KR" sz="1600" dirty="0"/>
              <a:t>)</a:t>
            </a:r>
            <a:r>
              <a:rPr lang="ko-KR" altLang="en-US" sz="1600" dirty="0"/>
              <a:t>을 학습하여 공학적 시스템 통합 능력을 개발한다</a:t>
            </a:r>
            <a:r>
              <a:rPr lang="en-US" altLang="ko-KR" sz="1600" dirty="0"/>
              <a:t>.</a:t>
            </a:r>
          </a:p>
          <a:p>
            <a:pPr marL="0" indent="0" algn="ctr">
              <a:buNone/>
            </a:pPr>
            <a:endParaRPr lang="en-US" altLang="ko-KR" dirty="0"/>
          </a:p>
          <a:p>
            <a:pPr marL="0" indent="0" algn="ctr">
              <a:buNone/>
            </a:pPr>
            <a:r>
              <a:rPr lang="ko-KR" altLang="en-US" b="1" dirty="0"/>
              <a:t>기대효과</a:t>
            </a:r>
            <a:endParaRPr lang="en-US" altLang="ko-KR" b="1" dirty="0"/>
          </a:p>
          <a:p>
            <a:pPr marL="0" indent="0" algn="ctr">
              <a:buNone/>
            </a:pPr>
            <a:r>
              <a:rPr lang="ko-KR" altLang="en-US" sz="1600" dirty="0"/>
              <a:t>국내 스마트 보안 및 센서 시장이 매년 성장함에 따라 향후 가정용 보안센서</a:t>
            </a:r>
            <a:r>
              <a:rPr lang="en-US" altLang="ko-KR" sz="1600" dirty="0"/>
              <a:t>, </a:t>
            </a:r>
            <a:r>
              <a:rPr lang="ko-KR" altLang="en-US" sz="1600" dirty="0"/>
              <a:t>소형 </a:t>
            </a:r>
            <a:r>
              <a:rPr lang="ko-KR" altLang="en-US" sz="1600" dirty="0" err="1"/>
              <a:t>드론</a:t>
            </a:r>
            <a:r>
              <a:rPr lang="ko-KR" altLang="en-US" sz="1600" dirty="0"/>
              <a:t> 감지장치 등 근거리 보안 감지 영역 시장의 작은 축을 담당할 수 </a:t>
            </a:r>
            <a:r>
              <a:rPr lang="ko-KR" altLang="en-US" sz="1600" dirty="0" err="1"/>
              <a:t>있을거라</a:t>
            </a:r>
            <a:r>
              <a:rPr lang="ko-KR" altLang="en-US" sz="1600" dirty="0"/>
              <a:t> 기대된다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pic>
        <p:nvPicPr>
          <p:cNvPr id="2054" name="Picture 6" descr="스마트 센서 시장 규모, 점유율 | 2032년 글로벌 성장 보고서">
            <a:extLst>
              <a:ext uri="{FF2B5EF4-FFF2-40B4-BE49-F238E27FC236}">
                <a16:creationId xmlns:a16="http://schemas.microsoft.com/office/drawing/2014/main" id="{30D73628-4E71-0F92-F417-8743EB31A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3742" y="2124840"/>
            <a:ext cx="6106894" cy="3053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6750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BC333A-0D74-9AE1-A1AC-AD07F7138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D693BB-BF00-977D-7643-82EF86C06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0" y="1899918"/>
            <a:ext cx="4408226" cy="4593828"/>
          </a:xfrm>
        </p:spPr>
        <p:txBody>
          <a:bodyPr/>
          <a:lstStyle/>
          <a:p>
            <a:pPr marL="0" indent="0" algn="ctr">
              <a:buNone/>
            </a:pPr>
            <a:r>
              <a:rPr lang="ko-KR" altLang="en-US" dirty="0" err="1"/>
              <a:t>아두이노</a:t>
            </a:r>
            <a:r>
              <a:rPr lang="ko-KR" altLang="en-US" dirty="0"/>
              <a:t> </a:t>
            </a:r>
            <a:r>
              <a:rPr lang="ko-KR" altLang="en-US" dirty="0" err="1"/>
              <a:t>우노</a:t>
            </a:r>
            <a:r>
              <a:rPr lang="en-US" altLang="ko-KR" dirty="0"/>
              <a:t>	1ea</a:t>
            </a:r>
          </a:p>
          <a:p>
            <a:pPr marL="0" indent="0" algn="ctr">
              <a:buNone/>
            </a:pPr>
            <a:r>
              <a:rPr lang="en-US" altLang="ko-KR" dirty="0"/>
              <a:t>LCD		1ea</a:t>
            </a:r>
          </a:p>
          <a:p>
            <a:pPr marL="0" indent="0" algn="ctr">
              <a:buNone/>
            </a:pPr>
            <a:r>
              <a:rPr lang="ko-KR" altLang="en-US" dirty="0"/>
              <a:t>초음파 센서</a:t>
            </a:r>
            <a:r>
              <a:rPr lang="en-US" altLang="ko-KR" dirty="0"/>
              <a:t>	1ea</a:t>
            </a:r>
          </a:p>
          <a:p>
            <a:pPr marL="0" indent="0" algn="ctr">
              <a:buNone/>
            </a:pPr>
            <a:r>
              <a:rPr lang="ko-KR" altLang="en-US" dirty="0" err="1"/>
              <a:t>서보모터</a:t>
            </a:r>
            <a:r>
              <a:rPr lang="en-US" altLang="ko-KR" dirty="0"/>
              <a:t>	1ea</a:t>
            </a:r>
          </a:p>
          <a:p>
            <a:pPr marL="0" indent="0" algn="ctr">
              <a:buNone/>
            </a:pPr>
            <a:r>
              <a:rPr lang="en-US" altLang="ko-KR" dirty="0"/>
              <a:t>LED		1ea</a:t>
            </a:r>
          </a:p>
          <a:p>
            <a:pPr marL="0" indent="0" algn="ctr">
              <a:buNone/>
            </a:pPr>
            <a:r>
              <a:rPr lang="ko-KR" altLang="en-US" dirty="0" err="1"/>
              <a:t>피에조</a:t>
            </a:r>
            <a:r>
              <a:rPr lang="ko-KR" altLang="en-US" dirty="0"/>
              <a:t> 스피커</a:t>
            </a:r>
            <a:r>
              <a:rPr lang="en-US" altLang="ko-KR" dirty="0"/>
              <a:t>	1ea</a:t>
            </a:r>
          </a:p>
          <a:p>
            <a:pPr marL="0" indent="0" algn="ctr">
              <a:buNone/>
            </a:pPr>
            <a:r>
              <a:rPr lang="ko-KR" altLang="en-US" dirty="0"/>
              <a:t>저항</a:t>
            </a:r>
            <a:r>
              <a:rPr lang="en-US" altLang="ko-KR" dirty="0"/>
              <a:t>		1ea</a:t>
            </a:r>
          </a:p>
          <a:p>
            <a:pPr marL="0" indent="0" algn="ctr">
              <a:buNone/>
            </a:pPr>
            <a:endParaRPr lang="ko-KR" altLang="en-US" dirty="0"/>
          </a:p>
        </p:txBody>
      </p:sp>
      <p:pic>
        <p:nvPicPr>
          <p:cNvPr id="3074" name="Picture 2" descr="아두이노 - 위키백과, 우리 모두의 백과사전">
            <a:extLst>
              <a:ext uri="{FF2B5EF4-FFF2-40B4-BE49-F238E27FC236}">
                <a16:creationId xmlns:a16="http://schemas.microsoft.com/office/drawing/2014/main" id="{16FD76E3-F6D4-300A-AA81-57DF8C20B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974" y="1096138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아두이노 I2C 1602 LCD 모듈 [SZH-EK101] / 디바이스마트">
            <a:extLst>
              <a:ext uri="{FF2B5EF4-FFF2-40B4-BE49-F238E27FC236}">
                <a16:creationId xmlns:a16="http://schemas.microsoft.com/office/drawing/2014/main" id="{83CB94A6-22EF-512E-8610-B1AD8BDEF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4542" y="1073367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아두이노 초음파센서 HC-SR04 / Ultrasonic Sensor-모바일 11번가">
            <a:extLst>
              <a:ext uri="{FF2B5EF4-FFF2-40B4-BE49-F238E27FC236}">
                <a16:creationId xmlns:a16="http://schemas.microsoft.com/office/drawing/2014/main" id="{590F7048-430A-4429-4BE8-290385ECC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031" y="3210196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아두이노 서보모터 SG-90 B117 : 모터 기획전 &gt; 모터 &gt; 모터/로봇/전자키트">
            <a:extLst>
              <a:ext uri="{FF2B5EF4-FFF2-40B4-BE49-F238E27FC236}">
                <a16:creationId xmlns:a16="http://schemas.microsoft.com/office/drawing/2014/main" id="{6788B00D-E9FF-C59F-5B45-1AC97BFF5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28694">
            <a:off x="3548269" y="428175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아두이노 LED 8MM 8파이 레드">
            <a:extLst>
              <a:ext uri="{FF2B5EF4-FFF2-40B4-BE49-F238E27FC236}">
                <a16:creationId xmlns:a16="http://schemas.microsoft.com/office/drawing/2014/main" id="{63F77058-F300-A791-85D3-5FB2B9128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1439" y="3091069"/>
            <a:ext cx="1905001" cy="190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모듈 1-6] 아두이노 부저로 소리내기(feat. 전자 피아노 만들기)">
            <a:extLst>
              <a:ext uri="{FF2B5EF4-FFF2-40B4-BE49-F238E27FC236}">
                <a16:creationId xmlns:a16="http://schemas.microsoft.com/office/drawing/2014/main" id="{488FCBF1-B235-F719-C6D5-25609C3E3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9196" y="2685552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아두이노 기초] 4. 저항 : 네이버 블로그">
            <a:extLst>
              <a:ext uri="{FF2B5EF4-FFF2-40B4-BE49-F238E27FC236}">
                <a16:creationId xmlns:a16="http://schemas.microsoft.com/office/drawing/2014/main" id="{3A33E9F6-50C0-7FF8-4982-2117CEF82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210" y="4719106"/>
            <a:ext cx="2676525" cy="170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4790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2E9D7E-3964-36A3-C913-099656ACA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각 부품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5E3221-B3C5-D018-292F-81806E366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8275" y="2114282"/>
            <a:ext cx="9495449" cy="3541083"/>
          </a:xfrm>
        </p:spPr>
        <p:txBody>
          <a:bodyPr>
            <a:normAutofit lnSpcReduction="10000"/>
          </a:bodyPr>
          <a:lstStyle/>
          <a:p>
            <a:pPr marL="457200" indent="-457200">
              <a:buAutoNum type="arabicPlain"/>
            </a:pPr>
            <a:r>
              <a:rPr lang="ko-KR" altLang="en-US" dirty="0" err="1"/>
              <a:t>아두이노</a:t>
            </a:r>
            <a:r>
              <a:rPr lang="ko-KR" altLang="en-US" dirty="0"/>
              <a:t> </a:t>
            </a:r>
            <a:r>
              <a:rPr lang="ko-KR" altLang="en-US" dirty="0" err="1"/>
              <a:t>우노</a:t>
            </a:r>
            <a:r>
              <a:rPr lang="en-US" altLang="ko-KR" dirty="0"/>
              <a:t>		1ea		</a:t>
            </a:r>
            <a:r>
              <a:rPr lang="ko-KR" altLang="en-US" dirty="0"/>
              <a:t>두뇌역할</a:t>
            </a:r>
            <a:r>
              <a:rPr lang="en-US" altLang="ko-KR" dirty="0"/>
              <a:t>, </a:t>
            </a:r>
            <a:r>
              <a:rPr lang="ko-KR" altLang="en-US" dirty="0"/>
              <a:t>중앙처리 장치</a:t>
            </a:r>
            <a:endParaRPr lang="en-US" altLang="ko-KR" dirty="0"/>
          </a:p>
          <a:p>
            <a:pPr marL="457200" indent="-457200">
              <a:buAutoNum type="arabicPlain"/>
            </a:pPr>
            <a:r>
              <a:rPr lang="ko-KR" altLang="en-US" dirty="0"/>
              <a:t>초음파 센서</a:t>
            </a:r>
            <a:r>
              <a:rPr lang="en-US" altLang="ko-KR" dirty="0"/>
              <a:t>			1ea		</a:t>
            </a:r>
            <a:r>
              <a:rPr lang="ko-KR" altLang="en-US" dirty="0"/>
              <a:t>감지기 역할</a:t>
            </a:r>
            <a:r>
              <a:rPr lang="en-US" altLang="ko-KR" dirty="0"/>
              <a:t>, </a:t>
            </a:r>
            <a:r>
              <a:rPr lang="ko-KR" altLang="en-US" dirty="0"/>
              <a:t>거리를 측정</a:t>
            </a:r>
            <a:endParaRPr lang="en-US" altLang="ko-KR" dirty="0"/>
          </a:p>
          <a:p>
            <a:pPr marL="457200" indent="-457200">
              <a:buAutoNum type="arabicPlain"/>
            </a:pPr>
            <a:r>
              <a:rPr lang="ko-KR" altLang="en-US" dirty="0" err="1"/>
              <a:t>서보모터</a:t>
            </a:r>
            <a:r>
              <a:rPr lang="en-US" altLang="ko-KR" dirty="0"/>
              <a:t>			1ea		</a:t>
            </a:r>
            <a:r>
              <a:rPr lang="ko-KR" altLang="en-US" dirty="0"/>
              <a:t>스캐닝 동작 구현</a:t>
            </a:r>
            <a:endParaRPr lang="en-US" altLang="ko-KR" dirty="0"/>
          </a:p>
          <a:p>
            <a:pPr marL="457200" indent="-457200">
              <a:buAutoNum type="arabicPlain"/>
            </a:pPr>
            <a:r>
              <a:rPr lang="en-US" altLang="ko-KR" dirty="0"/>
              <a:t>LCD			1ea		</a:t>
            </a:r>
            <a:r>
              <a:rPr lang="ko-KR" altLang="en-US" dirty="0"/>
              <a:t>시각적으로 출력하는 장치</a:t>
            </a:r>
            <a:endParaRPr lang="en-US" altLang="ko-KR" dirty="0"/>
          </a:p>
          <a:p>
            <a:pPr marL="457200" indent="-457200">
              <a:buAutoNum type="arabicPlain"/>
            </a:pPr>
            <a:r>
              <a:rPr lang="en-US" altLang="ko-KR" dirty="0"/>
              <a:t>LED			1ea		</a:t>
            </a:r>
            <a:r>
              <a:rPr lang="ko-KR" altLang="en-US" dirty="0"/>
              <a:t>경고 표시</a:t>
            </a:r>
            <a:r>
              <a:rPr lang="en-US" altLang="ko-KR" dirty="0"/>
              <a:t>, </a:t>
            </a:r>
            <a:r>
              <a:rPr lang="ko-KR" altLang="en-US" dirty="0"/>
              <a:t>동작 상태 알림</a:t>
            </a:r>
            <a:endParaRPr lang="en-US" altLang="ko-KR" dirty="0"/>
          </a:p>
          <a:p>
            <a:pPr marL="457200" indent="-457200">
              <a:buAutoNum type="arabicPlain"/>
            </a:pPr>
            <a:r>
              <a:rPr lang="ko-KR" altLang="en-US" dirty="0" err="1"/>
              <a:t>피에조</a:t>
            </a:r>
            <a:r>
              <a:rPr lang="ko-KR" altLang="en-US" dirty="0"/>
              <a:t> 스피커</a:t>
            </a:r>
            <a:r>
              <a:rPr lang="en-US" altLang="ko-KR" dirty="0"/>
              <a:t>		1ea		</a:t>
            </a:r>
            <a:r>
              <a:rPr lang="ko-KR" altLang="en-US" dirty="0"/>
              <a:t>경고음을 제공하는 청각 출력장치</a:t>
            </a:r>
            <a:endParaRPr lang="en-US" altLang="ko-KR" dirty="0"/>
          </a:p>
          <a:p>
            <a:pPr marL="457200" indent="-457200">
              <a:buAutoNum type="arabicPlain"/>
            </a:pPr>
            <a:r>
              <a:rPr lang="ko-KR" altLang="en-US" dirty="0"/>
              <a:t>저항</a:t>
            </a:r>
            <a:r>
              <a:rPr lang="en-US" altLang="ko-KR" dirty="0"/>
              <a:t>			1ea		</a:t>
            </a:r>
            <a:r>
              <a:rPr lang="ko-KR" altLang="en-US" dirty="0"/>
              <a:t>전류 양을 제한하는 안정화 역할</a:t>
            </a:r>
            <a:r>
              <a:rPr lang="en-US" altLang="ko-KR" dirty="0"/>
              <a:t>		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2866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7AB00D-42A2-BE31-7FDE-DE01CEC01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전체 회로 구성</a:t>
            </a:r>
          </a:p>
        </p:txBody>
      </p:sp>
      <p:pic>
        <p:nvPicPr>
          <p:cNvPr id="5" name="내용 개체 틀 4" descr="전기 배선, 케이블, 전자제품, 전자 공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29718C-F374-7C91-A02A-A844978789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673589" y="1410598"/>
            <a:ext cx="4592637" cy="4592637"/>
          </a:xfrm>
        </p:spPr>
      </p:pic>
      <p:pic>
        <p:nvPicPr>
          <p:cNvPr id="7" name="그림 6" descr="텍스트, 스크린샷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AF13EEC-6385-ACB8-3A60-384C607DE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15" y="1610139"/>
            <a:ext cx="6041262" cy="439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073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630773-88CD-0ABF-26A8-F05E9DC07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동작</a:t>
            </a:r>
            <a:br>
              <a:rPr lang="en-US" altLang="ko-KR" dirty="0"/>
            </a:br>
            <a:r>
              <a:rPr lang="ko-KR" altLang="en-US" sz="1800" b="0" dirty="0"/>
              <a:t>전원 공급 및 초기화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D6C307-F789-7EEE-0DEC-BEF35F279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774" y="2448906"/>
            <a:ext cx="4237649" cy="1960188"/>
          </a:xfrm>
        </p:spPr>
        <p:txBody>
          <a:bodyPr/>
          <a:lstStyle/>
          <a:p>
            <a:pPr marL="0" indent="0" algn="ctr">
              <a:buNone/>
            </a:pPr>
            <a:r>
              <a:rPr lang="ko-KR" altLang="en-US" dirty="0" err="1"/>
              <a:t>아두이노</a:t>
            </a:r>
            <a:r>
              <a:rPr lang="ko-KR" altLang="en-US" dirty="0"/>
              <a:t> </a:t>
            </a:r>
            <a:r>
              <a:rPr lang="ko-KR" altLang="en-US" dirty="0" err="1"/>
              <a:t>우노에</a:t>
            </a:r>
            <a:r>
              <a:rPr lang="ko-KR" altLang="en-US" dirty="0"/>
              <a:t> 전원이 공급되며 시스템이 시작</a:t>
            </a:r>
            <a:r>
              <a:rPr lang="en-US" altLang="ko-KR" dirty="0"/>
              <a:t>, LCD </a:t>
            </a:r>
            <a:r>
              <a:rPr lang="ko-KR" altLang="en-US" dirty="0"/>
              <a:t>모듈이 초기화되고 </a:t>
            </a:r>
            <a:r>
              <a:rPr lang="ko-KR" altLang="en-US" dirty="0" err="1"/>
              <a:t>백라이트가</a:t>
            </a:r>
            <a:r>
              <a:rPr lang="ko-KR" altLang="en-US" dirty="0"/>
              <a:t> 켜지며 초기 시작 메시지가 표시되며 </a:t>
            </a:r>
            <a:r>
              <a:rPr lang="ko-KR" altLang="en-US" dirty="0" err="1"/>
              <a:t>서보모터가</a:t>
            </a:r>
            <a:r>
              <a:rPr lang="ko-KR" altLang="en-US" dirty="0"/>
              <a:t> 초기 위치</a:t>
            </a:r>
            <a:r>
              <a:rPr lang="en-US" altLang="ko-KR" dirty="0"/>
              <a:t>(0</a:t>
            </a:r>
            <a:r>
              <a:rPr lang="ko-KR" altLang="en-US" dirty="0"/>
              <a:t>도</a:t>
            </a:r>
            <a:r>
              <a:rPr lang="en-US" altLang="ko-KR" dirty="0"/>
              <a:t>)</a:t>
            </a:r>
            <a:r>
              <a:rPr lang="ko-KR" altLang="en-US" dirty="0"/>
              <a:t>로 이동</a:t>
            </a:r>
          </a:p>
        </p:txBody>
      </p:sp>
      <p:pic>
        <p:nvPicPr>
          <p:cNvPr id="9" name="그림 8" descr="전자제품, 전자 공학, 전기 배선, 회로 구성요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B1C473-2619-7925-A5EA-F8177652A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326478" y="1114769"/>
            <a:ext cx="4939748" cy="493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334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2CB7D-4EFB-BBDC-2E83-DBA33509E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04F6A-9C19-D70B-22C1-1CDE22242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동작</a:t>
            </a:r>
            <a:br>
              <a:rPr lang="en-US" altLang="ko-KR" dirty="0"/>
            </a:br>
            <a:r>
              <a:rPr lang="ko-KR" altLang="en-US" sz="1800" b="0" dirty="0"/>
              <a:t>주변 환경 스캐닝 시작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06293D-1CAA-B135-A376-757FB6FCA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483794"/>
            <a:ext cx="4973144" cy="1890405"/>
          </a:xfrm>
        </p:spPr>
        <p:txBody>
          <a:bodyPr/>
          <a:lstStyle/>
          <a:p>
            <a:pPr marL="0" indent="0" algn="ctr">
              <a:buNone/>
            </a:pPr>
            <a:r>
              <a:rPr lang="ko-KR" altLang="en-US" dirty="0" err="1"/>
              <a:t>아두이노는</a:t>
            </a:r>
            <a:r>
              <a:rPr lang="ko-KR" altLang="en-US" dirty="0"/>
              <a:t> 소프트웨어를 통해 </a:t>
            </a:r>
            <a:r>
              <a:rPr lang="ko-KR" altLang="en-US" dirty="0" err="1"/>
              <a:t>서보모터에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도부터 </a:t>
            </a:r>
            <a:r>
              <a:rPr lang="en-US" altLang="ko-KR" dirty="0"/>
              <a:t>180</a:t>
            </a:r>
            <a:r>
              <a:rPr lang="ko-KR" altLang="en-US" dirty="0"/>
              <a:t>도까지 지정된 각도로 지속적인 스캐닝 동작을 명령하고</a:t>
            </a:r>
            <a:r>
              <a:rPr lang="en-US" altLang="ko-KR" dirty="0"/>
              <a:t>, </a:t>
            </a:r>
            <a:r>
              <a:rPr lang="ko-KR" altLang="en-US" dirty="0"/>
              <a:t>스캐닝이 진행되는 동안 시스템은 초음파 센서를 사용해 지속적으로 거리를</a:t>
            </a:r>
            <a:r>
              <a:rPr lang="en-US" altLang="ko-KR" dirty="0"/>
              <a:t> </a:t>
            </a:r>
            <a:r>
              <a:rPr lang="ko-KR" altLang="en-US" dirty="0"/>
              <a:t>측정</a:t>
            </a:r>
          </a:p>
        </p:txBody>
      </p:sp>
      <p:pic>
        <p:nvPicPr>
          <p:cNvPr id="7" name="그림 6" descr="전자제품, 전자 공학, 전기 배선, 케이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A942BD-9B4D-BCDA-441A-BECAD1317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425869" y="1008819"/>
            <a:ext cx="4840357" cy="484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839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8E904-9B1C-2BE1-67E5-6113B5011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CAE9CA-602D-E622-FAEF-21E65BBCA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동작</a:t>
            </a:r>
            <a:br>
              <a:rPr lang="en-US" altLang="ko-KR" dirty="0"/>
            </a:br>
            <a:r>
              <a:rPr lang="ko-KR" altLang="en-US" sz="1800" b="0" dirty="0"/>
              <a:t>물체 감지 및 거리 측정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F72D0D-D027-5090-E692-CF1868AFC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090218"/>
            <a:ext cx="4655092" cy="2677564"/>
          </a:xfrm>
        </p:spPr>
        <p:txBody>
          <a:bodyPr/>
          <a:lstStyle/>
          <a:p>
            <a:pPr marL="0" indent="0" algn="ctr">
              <a:buNone/>
            </a:pPr>
            <a:r>
              <a:rPr lang="ko-KR" altLang="en-US" dirty="0"/>
              <a:t>초음파 센서는 각도에 따라 초음파를 발사하고 </a:t>
            </a:r>
            <a:r>
              <a:rPr lang="ko-KR" altLang="en-US" dirty="0" err="1"/>
              <a:t>불체에</a:t>
            </a:r>
            <a:r>
              <a:rPr lang="ko-KR" altLang="en-US" dirty="0"/>
              <a:t> 반사되어 돌아온 초음파를 수신하여 </a:t>
            </a:r>
            <a:r>
              <a:rPr lang="ko-KR" altLang="en-US" dirty="0" err="1"/>
              <a:t>아두이노는</a:t>
            </a:r>
            <a:r>
              <a:rPr lang="ko-KR" altLang="en-US" dirty="0"/>
              <a:t> 이 왕복시간을 계산하여 물체와의 현재 거리를 </a:t>
            </a:r>
            <a:r>
              <a:rPr lang="en-US" altLang="ko-KR" dirty="0"/>
              <a:t>cm </a:t>
            </a:r>
            <a:r>
              <a:rPr lang="ko-KR" altLang="en-US" dirty="0"/>
              <a:t>단위로 파악</a:t>
            </a:r>
            <a:r>
              <a:rPr lang="en-US" altLang="ko-KR" dirty="0"/>
              <a:t>, </a:t>
            </a:r>
            <a:r>
              <a:rPr lang="ko-KR" altLang="en-US" dirty="0" err="1"/>
              <a:t>아두이노는</a:t>
            </a:r>
            <a:r>
              <a:rPr lang="ko-KR" altLang="en-US" dirty="0"/>
              <a:t> 측정된 거리가 사전에 설정된 거리보다 가까운지 판단</a:t>
            </a:r>
          </a:p>
        </p:txBody>
      </p:sp>
      <p:pic>
        <p:nvPicPr>
          <p:cNvPr id="7" name="그림 6" descr="전자제품, 전자 공학, 전기 배선, 케이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BD6236-3031-8EB9-440F-39A4C2448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611134" y="1101454"/>
            <a:ext cx="4655092" cy="465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283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0A2D6-70FF-2A2E-8587-30147F368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92401-7C2C-854C-98B9-C10A8D0D3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동작</a:t>
            </a:r>
            <a:br>
              <a:rPr lang="en-US" altLang="ko-KR" dirty="0"/>
            </a:br>
            <a:r>
              <a:rPr lang="ko-KR" altLang="en-US" sz="1800" b="0" dirty="0"/>
              <a:t>경고 및 알림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E183E6-E257-63FA-9B79-C4404040D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29365"/>
            <a:ext cx="4267466" cy="2399268"/>
          </a:xfrm>
        </p:spPr>
        <p:txBody>
          <a:bodyPr/>
          <a:lstStyle/>
          <a:p>
            <a:pPr marL="0" indent="0" algn="ctr">
              <a:buNone/>
            </a:pPr>
            <a:r>
              <a:rPr lang="ko-KR" altLang="en-US" dirty="0"/>
              <a:t>측정된 거리가 임계치 이내일 경우 </a:t>
            </a:r>
            <a:r>
              <a:rPr lang="en-US" altLang="ko-KR" dirty="0"/>
              <a:t>LCD</a:t>
            </a:r>
            <a:r>
              <a:rPr lang="ko-KR" altLang="en-US" dirty="0"/>
              <a:t>에 </a:t>
            </a:r>
            <a:r>
              <a:rPr lang="en-US" altLang="ko-KR" dirty="0"/>
              <a:t>“DETECTED”</a:t>
            </a:r>
            <a:r>
              <a:rPr lang="ko-KR" altLang="en-US" dirty="0"/>
              <a:t>라는 경고 문구가 출력되고 </a:t>
            </a:r>
            <a:r>
              <a:rPr lang="en-US" altLang="ko-KR" dirty="0"/>
              <a:t>LED</a:t>
            </a:r>
            <a:r>
              <a:rPr lang="ko-KR" altLang="en-US" dirty="0"/>
              <a:t>가 켜져 시각적 경고를 발생시키고  </a:t>
            </a:r>
            <a:r>
              <a:rPr lang="ko-KR" altLang="en-US" dirty="0" err="1"/>
              <a:t>피에조</a:t>
            </a:r>
            <a:r>
              <a:rPr lang="ko-KR" altLang="en-US" dirty="0"/>
              <a:t> 스피커에서 경고음이 울려 청각적 알림을 제공</a:t>
            </a:r>
          </a:p>
        </p:txBody>
      </p:sp>
      <p:pic>
        <p:nvPicPr>
          <p:cNvPr id="5" name="그림 4" descr="전자제품, 전자 공학, 전기 배선, 케이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10D512-B4B7-6AEC-FC24-601D895C1A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024991" y="808382"/>
            <a:ext cx="5241235" cy="5241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218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B6ABD-C247-9EA1-60C9-21DAA30F2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</a:t>
            </a:r>
            <a:br>
              <a:rPr lang="en-US" altLang="ko-KR" dirty="0"/>
            </a:br>
            <a:r>
              <a:rPr lang="en-US" altLang="ko-KR" sz="1800" b="0" dirty="0"/>
              <a:t>setup() – </a:t>
            </a:r>
            <a:r>
              <a:rPr lang="ko-KR" altLang="en-US" sz="1800" b="0" dirty="0"/>
              <a:t>초기 설정 함수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31450D-0B9E-E48D-ADA0-BAC96F239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2"/>
            <a:ext cx="4545762" cy="4593828"/>
          </a:xfrm>
        </p:spPr>
        <p:txBody>
          <a:bodyPr/>
          <a:lstStyle/>
          <a:p>
            <a:pPr marL="0" indent="0" algn="ctr">
              <a:buNone/>
            </a:pPr>
            <a:r>
              <a:rPr lang="ko-KR" altLang="en-US" dirty="0" err="1"/>
              <a:t>아두이노가</a:t>
            </a:r>
            <a:r>
              <a:rPr lang="ko-KR" altLang="en-US" dirty="0"/>
              <a:t> 처음 켜졌을 때 한번만 실행되는 부분으로</a:t>
            </a:r>
            <a:r>
              <a:rPr lang="en-US" altLang="ko-KR" dirty="0"/>
              <a:t>, </a:t>
            </a:r>
            <a:r>
              <a:rPr lang="ko-KR" altLang="en-US" dirty="0"/>
              <a:t>전체 시스템의 기본 환경을 준비한다</a:t>
            </a:r>
            <a:endParaRPr lang="en-US" altLang="ko-KR" dirty="0"/>
          </a:p>
          <a:p>
            <a:pPr marL="0" indent="0" algn="ctr">
              <a:buNone/>
            </a:pPr>
            <a:r>
              <a:rPr lang="ko-KR" altLang="en-US" dirty="0"/>
              <a:t>전체 시스템이 정상적으로 작동할 준비를 마치는 단계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sz="1400" dirty="0"/>
              <a:t>- </a:t>
            </a:r>
            <a:r>
              <a:rPr lang="ko-KR" altLang="en-US" sz="1400" dirty="0"/>
              <a:t>각 핀의 입출력 모드를 설정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 </a:t>
            </a:r>
            <a:r>
              <a:rPr lang="ko-KR" altLang="en-US" sz="1400" dirty="0"/>
              <a:t>시리얼 통신 시작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 </a:t>
            </a:r>
            <a:r>
              <a:rPr lang="ko-KR" altLang="en-US" sz="1400" dirty="0" err="1"/>
              <a:t>서보모터</a:t>
            </a:r>
            <a:r>
              <a:rPr lang="ko-KR" altLang="en-US" sz="1400" dirty="0"/>
              <a:t> 핀 연결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 LCD </a:t>
            </a:r>
            <a:r>
              <a:rPr lang="ko-KR" altLang="en-US" sz="1400" dirty="0"/>
              <a:t>초기화 및 시작 메시지 출력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- 2</a:t>
            </a:r>
            <a:r>
              <a:rPr lang="ko-KR" altLang="en-US" sz="1400" dirty="0"/>
              <a:t>초 후 화면 초기화</a:t>
            </a:r>
            <a:endParaRPr lang="en-US" altLang="ko-KR" sz="1400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 descr="텍스트, 폰트, 스크린샷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346AAF-601E-0843-71D3-E51619213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174" y="577948"/>
            <a:ext cx="3203713" cy="573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4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E6E59-1F47-EA17-DC3B-0FA03CEEF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E3FD2-81CC-DB5D-2AA7-FEAAF2743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</a:t>
            </a:r>
            <a:br>
              <a:rPr lang="en-US" altLang="ko-KR" dirty="0"/>
            </a:br>
            <a:r>
              <a:rPr lang="en-US" altLang="ko-KR" sz="1800" b="0" dirty="0"/>
              <a:t>loop – </a:t>
            </a:r>
            <a:r>
              <a:rPr lang="ko-KR" altLang="en-US" sz="1800" b="0" dirty="0"/>
              <a:t>메인 스캔 루프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ECF57A-4E4D-C5AC-F7EF-3C3000F4B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849757"/>
            <a:ext cx="4545762" cy="3422998"/>
          </a:xfrm>
        </p:spPr>
        <p:txBody>
          <a:bodyPr/>
          <a:lstStyle/>
          <a:p>
            <a:pPr marL="0" indent="0" algn="ctr">
              <a:buNone/>
            </a:pPr>
            <a:r>
              <a:rPr lang="ko-KR" altLang="en-US" dirty="0" err="1"/>
              <a:t>서보모터가</a:t>
            </a:r>
            <a:r>
              <a:rPr lang="ko-KR" altLang="en-US" dirty="0"/>
              <a:t> 반복적으로 회전 하도록 제어하는 구조</a:t>
            </a:r>
            <a:endParaRPr lang="en-US" altLang="ko-KR" dirty="0"/>
          </a:p>
          <a:p>
            <a:pPr marL="0" indent="0" algn="ctr">
              <a:buNone/>
            </a:pPr>
            <a:r>
              <a:rPr lang="ko-KR" altLang="en-US" dirty="0"/>
              <a:t>레이더의 지속적인 스캔</a:t>
            </a:r>
            <a:r>
              <a:rPr lang="en-US" altLang="ko-KR" dirty="0"/>
              <a:t>(</a:t>
            </a:r>
            <a:r>
              <a:rPr lang="ko-KR" altLang="en-US" dirty="0"/>
              <a:t>왕복</a:t>
            </a:r>
            <a:r>
              <a:rPr lang="en-US" altLang="ko-KR" dirty="0"/>
              <a:t>) </a:t>
            </a:r>
            <a:r>
              <a:rPr lang="ko-KR" altLang="en-US" dirty="0"/>
              <a:t>동작을 담당하며 프로그램의 주 루프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>
              <a:buFontTx/>
              <a:buChar char="-"/>
            </a:pPr>
            <a:r>
              <a:rPr lang="ko-KR" altLang="en-US" sz="1400" dirty="0" err="1"/>
              <a:t>정방향</a:t>
            </a:r>
            <a:r>
              <a:rPr lang="en-US" altLang="ko-KR" sz="1400" dirty="0"/>
              <a:t> </a:t>
            </a:r>
            <a:r>
              <a:rPr lang="ko-KR" altLang="en-US" sz="1400" dirty="0"/>
              <a:t>스캔</a:t>
            </a:r>
            <a:endParaRPr lang="en-US" altLang="ko-KR" sz="1400" dirty="0"/>
          </a:p>
          <a:p>
            <a:pPr>
              <a:buFontTx/>
              <a:buChar char="-"/>
            </a:pPr>
            <a:r>
              <a:rPr lang="ko-KR" altLang="en-US" sz="1400" dirty="0"/>
              <a:t>역방향 스캔</a:t>
            </a:r>
            <a:endParaRPr lang="en-US" altLang="ko-KR" sz="1400" dirty="0"/>
          </a:p>
          <a:p>
            <a:pPr>
              <a:buFontTx/>
              <a:buChar char="-"/>
            </a:pPr>
            <a:r>
              <a:rPr lang="ko-KR" altLang="en-US" sz="1400" dirty="0"/>
              <a:t>각 각도에서 </a:t>
            </a:r>
            <a:r>
              <a:rPr lang="en-US" altLang="ko-KR" sz="1400" dirty="0" err="1"/>
              <a:t>radarScan</a:t>
            </a:r>
            <a:r>
              <a:rPr lang="en-US" altLang="ko-KR" sz="1400" dirty="0"/>
              <a:t>(angle) </a:t>
            </a:r>
            <a:r>
              <a:rPr lang="ko-KR" altLang="en-US" sz="1400" dirty="0"/>
              <a:t>호출</a:t>
            </a:r>
          </a:p>
        </p:txBody>
      </p:sp>
      <p:pic>
        <p:nvPicPr>
          <p:cNvPr id="5" name="그림 4" descr="텍스트, 폰트, 스크린샷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5C55A6-412B-BDC5-4219-D8D9905F3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23131"/>
            <a:ext cx="5273128" cy="287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697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AC05B-0648-D627-3B0F-5B08F74F7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8DAE24-59C7-3905-7034-B0636B53E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</a:t>
            </a:r>
            <a:br>
              <a:rPr lang="en-US" altLang="ko-KR" dirty="0"/>
            </a:br>
            <a:r>
              <a:rPr lang="en-US" altLang="ko-KR" sz="1800" b="0" dirty="0" err="1"/>
              <a:t>radarScan</a:t>
            </a:r>
            <a:r>
              <a:rPr lang="en-US" altLang="ko-KR" sz="1800" b="0" dirty="0"/>
              <a:t>(int</a:t>
            </a:r>
            <a:r>
              <a:rPr lang="ko-KR" altLang="en-US" sz="1800" b="0" dirty="0"/>
              <a:t> </a:t>
            </a:r>
            <a:r>
              <a:rPr lang="en-US" altLang="ko-KR" sz="1800" b="0" dirty="0"/>
              <a:t>angle)</a:t>
            </a:r>
            <a:r>
              <a:rPr lang="ko-KR" altLang="en-US" sz="1800" b="0" dirty="0"/>
              <a:t> </a:t>
            </a:r>
            <a:r>
              <a:rPr lang="en-US" altLang="ko-KR" sz="1800" b="0" dirty="0"/>
              <a:t>–</a:t>
            </a:r>
            <a:r>
              <a:rPr lang="ko-KR" altLang="en-US" sz="1800" b="0" dirty="0"/>
              <a:t> 레이더 스캔 및 처리 함수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48FFBF-81E8-BD02-4EA5-BE76D2ABF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2"/>
            <a:ext cx="4545762" cy="4593828"/>
          </a:xfrm>
        </p:spPr>
        <p:txBody>
          <a:bodyPr/>
          <a:lstStyle/>
          <a:p>
            <a:pPr marL="0" indent="0" algn="ctr">
              <a:buNone/>
            </a:pPr>
            <a:r>
              <a:rPr lang="ko-KR" altLang="en-US" dirty="0"/>
              <a:t>각 스캔 위치에서 필요한 전체 동작을 수행하는 함수</a:t>
            </a:r>
            <a:endParaRPr lang="en-US" altLang="ko-KR" dirty="0"/>
          </a:p>
          <a:p>
            <a:pPr marL="0" indent="0" algn="ctr">
              <a:buNone/>
            </a:pPr>
            <a:r>
              <a:rPr lang="ko-KR" altLang="en-US" dirty="0"/>
              <a:t>한 지점의 스캔</a:t>
            </a:r>
            <a:r>
              <a:rPr lang="en-US" altLang="ko-KR" dirty="0"/>
              <a:t>, </a:t>
            </a:r>
            <a:r>
              <a:rPr lang="ko-KR" altLang="en-US" dirty="0"/>
              <a:t>측정</a:t>
            </a:r>
            <a:r>
              <a:rPr lang="en-US" altLang="ko-KR" dirty="0"/>
              <a:t>, </a:t>
            </a:r>
            <a:r>
              <a:rPr lang="ko-KR" altLang="en-US" dirty="0"/>
              <a:t>표시</a:t>
            </a:r>
            <a:r>
              <a:rPr lang="en-US" altLang="ko-KR" dirty="0"/>
              <a:t>, </a:t>
            </a:r>
            <a:r>
              <a:rPr lang="ko-KR" altLang="en-US" dirty="0"/>
              <a:t>알림을 수행하는 메인 처리 모듈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>
              <a:buFontTx/>
              <a:buChar char="-"/>
            </a:pPr>
            <a:r>
              <a:rPr lang="ko-KR" altLang="en-US" sz="1400" dirty="0" err="1"/>
              <a:t>서보모터를</a:t>
            </a:r>
            <a:r>
              <a:rPr lang="ko-KR" altLang="en-US" sz="1400" dirty="0"/>
              <a:t> 전달된 각도로 회전</a:t>
            </a:r>
            <a:endParaRPr lang="en-US" altLang="ko-KR" sz="1400" dirty="0"/>
          </a:p>
          <a:p>
            <a:pPr>
              <a:buFontTx/>
              <a:buChar char="-"/>
            </a:pPr>
            <a:r>
              <a:rPr lang="ko-KR" altLang="en-US" sz="1400" dirty="0"/>
              <a:t>센서로 거리 측정 </a:t>
            </a:r>
            <a:r>
              <a:rPr lang="en-US" altLang="ko-KR" sz="1400" dirty="0"/>
              <a:t>( </a:t>
            </a:r>
            <a:r>
              <a:rPr lang="en-US" altLang="ko-KR" sz="1400" dirty="0" err="1"/>
              <a:t>caculateDistance</a:t>
            </a:r>
            <a:r>
              <a:rPr lang="en-US" altLang="ko-KR" sz="1400" dirty="0"/>
              <a:t>() )</a:t>
            </a:r>
          </a:p>
          <a:p>
            <a:pPr>
              <a:buFontTx/>
              <a:buChar char="-"/>
            </a:pPr>
            <a:r>
              <a:rPr lang="ko-KR" altLang="en-US" sz="1400" dirty="0"/>
              <a:t>시리얼 모니터에 각도</a:t>
            </a:r>
            <a:r>
              <a:rPr lang="en-US" altLang="ko-KR" sz="1400" dirty="0"/>
              <a:t>, </a:t>
            </a:r>
            <a:r>
              <a:rPr lang="ko-KR" altLang="en-US" sz="1400" dirty="0"/>
              <a:t>거리 출력</a:t>
            </a:r>
            <a:endParaRPr lang="en-US" altLang="ko-KR" sz="1400" dirty="0"/>
          </a:p>
          <a:p>
            <a:pPr>
              <a:buFontTx/>
              <a:buChar char="-"/>
            </a:pPr>
            <a:r>
              <a:rPr lang="en-US" altLang="ko-KR" sz="1400" dirty="0"/>
              <a:t>LCD</a:t>
            </a:r>
            <a:r>
              <a:rPr lang="ko-KR" altLang="en-US" sz="1400" dirty="0"/>
              <a:t>에 측정 결과 표시 </a:t>
            </a:r>
            <a:r>
              <a:rPr lang="en-US" altLang="ko-KR" sz="1400" dirty="0"/>
              <a:t>( </a:t>
            </a:r>
            <a:r>
              <a:rPr lang="en-US" altLang="ko-KR" sz="1400" dirty="0" err="1"/>
              <a:t>displayLCD</a:t>
            </a:r>
            <a:r>
              <a:rPr lang="en-US" altLang="ko-KR" sz="1400" dirty="0"/>
              <a:t>() )</a:t>
            </a:r>
          </a:p>
          <a:p>
            <a:pPr>
              <a:buFontTx/>
              <a:buChar char="-"/>
            </a:pPr>
            <a:r>
              <a:rPr lang="ko-KR" altLang="en-US" sz="1400" dirty="0"/>
              <a:t>경보 여부 판단 및 알림 </a:t>
            </a:r>
            <a:r>
              <a:rPr lang="en-US" altLang="ko-KR" sz="1400" dirty="0"/>
              <a:t>( </a:t>
            </a:r>
            <a:r>
              <a:rPr lang="en-US" altLang="ko-KR" sz="1400" dirty="0" err="1"/>
              <a:t>checkAlert</a:t>
            </a:r>
            <a:r>
              <a:rPr lang="en-US" altLang="ko-KR" sz="1400" dirty="0"/>
              <a:t>() )</a:t>
            </a:r>
            <a:endParaRPr lang="ko-KR" altLang="en-US" sz="1400" dirty="0"/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5E4C55-1CC7-4FD8-E8B2-D52C24B0F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857" y="1826270"/>
            <a:ext cx="4850508" cy="400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285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B26B8-9CE6-D09A-E44B-B49D58BB2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3121E5-927A-C343-3993-7B2A34553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</a:t>
            </a:r>
            <a:br>
              <a:rPr lang="en-US" altLang="ko-KR" dirty="0"/>
            </a:br>
            <a:r>
              <a:rPr lang="en-US" altLang="ko-KR" sz="1800" b="0" dirty="0" err="1"/>
              <a:t>calculateDistance</a:t>
            </a:r>
            <a:r>
              <a:rPr lang="en-US" altLang="ko-KR" sz="1800" b="0" dirty="0"/>
              <a:t>() – </a:t>
            </a:r>
            <a:r>
              <a:rPr lang="ko-KR" altLang="en-US" sz="1800" b="0" dirty="0"/>
              <a:t>초음파 센서 거리 측정 함수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4DB9F4-02C3-A726-3207-E763A188A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2"/>
            <a:ext cx="4545762" cy="45938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ko-KR" altLang="en-US" dirty="0"/>
              <a:t>초음파 센서의 트리거 신호를 보내고</a:t>
            </a:r>
            <a:r>
              <a:rPr lang="en-US" altLang="ko-KR" dirty="0"/>
              <a:t>, </a:t>
            </a:r>
            <a:r>
              <a:rPr lang="ko-KR" altLang="en-US" dirty="0"/>
              <a:t>반사된 신호의 시간을 측정해 거리를 계산</a:t>
            </a:r>
            <a:endParaRPr lang="en-US" altLang="ko-KR" dirty="0"/>
          </a:p>
          <a:p>
            <a:pPr marL="0" indent="0" algn="ctr">
              <a:buNone/>
            </a:pPr>
            <a:r>
              <a:rPr lang="ko-KR" altLang="en-US" dirty="0"/>
              <a:t>초음파 센서를 이용해 물체까지의 거리를 계산하는 정확한 센싱 기능 담당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>
              <a:buFontTx/>
              <a:buChar char="-"/>
            </a:pPr>
            <a:r>
              <a:rPr lang="en-US" altLang="ko-KR" sz="1400" dirty="0"/>
              <a:t>Trig </a:t>
            </a:r>
            <a:r>
              <a:rPr lang="ko-KR" altLang="en-US" sz="1400" dirty="0"/>
              <a:t>핀에 </a:t>
            </a:r>
            <a:r>
              <a:rPr lang="en-US" altLang="ko-KR" sz="1400" dirty="0"/>
              <a:t>10</a:t>
            </a:r>
            <a:r>
              <a:rPr lang="el-GR" altLang="ko-KR" sz="1400" dirty="0"/>
              <a:t>μ</a:t>
            </a:r>
            <a:r>
              <a:rPr lang="en-US" altLang="ko-KR" sz="1400" dirty="0"/>
              <a:t>s </a:t>
            </a:r>
            <a:r>
              <a:rPr lang="ko-KR" altLang="en-US" sz="1400" dirty="0"/>
              <a:t>펄스 출력</a:t>
            </a:r>
            <a:endParaRPr lang="en-US" altLang="ko-KR" sz="1400" dirty="0"/>
          </a:p>
          <a:p>
            <a:pPr>
              <a:buFontTx/>
              <a:buChar char="-"/>
            </a:pPr>
            <a:r>
              <a:rPr lang="en-US" altLang="ko-KR" sz="1400" dirty="0"/>
              <a:t>Echo </a:t>
            </a:r>
            <a:r>
              <a:rPr lang="ko-KR" altLang="en-US" sz="1400" dirty="0"/>
              <a:t>핀 </a:t>
            </a:r>
            <a:r>
              <a:rPr lang="en-US" altLang="ko-KR" sz="1400" dirty="0"/>
              <a:t>HIGH </a:t>
            </a:r>
            <a:r>
              <a:rPr lang="ko-KR" altLang="en-US" sz="1400" dirty="0"/>
              <a:t>지속 시간을 측정</a:t>
            </a:r>
            <a:endParaRPr lang="en-US" altLang="ko-KR" sz="1400" dirty="0"/>
          </a:p>
          <a:p>
            <a:pPr>
              <a:buFontTx/>
              <a:buChar char="-"/>
            </a:pPr>
            <a:r>
              <a:rPr lang="en-US" altLang="ko-KR" sz="1400" dirty="0"/>
              <a:t>Distance = duration * 0034 / 2 </a:t>
            </a:r>
            <a:r>
              <a:rPr lang="ko-KR" altLang="en-US" sz="1400" dirty="0"/>
              <a:t>로</a:t>
            </a:r>
            <a:r>
              <a:rPr lang="en-US" altLang="ko-KR" sz="1400" dirty="0"/>
              <a:t> </a:t>
            </a:r>
            <a:r>
              <a:rPr lang="ko-KR" altLang="en-US" sz="1400" dirty="0"/>
              <a:t>거리 계산</a:t>
            </a:r>
            <a:endParaRPr lang="en-US" altLang="ko-KR" sz="1400" dirty="0"/>
          </a:p>
          <a:p>
            <a:pPr>
              <a:buFontTx/>
              <a:buChar char="-"/>
            </a:pPr>
            <a:r>
              <a:rPr lang="en-US" altLang="ko-KR" sz="1400" dirty="0"/>
              <a:t>400cm </a:t>
            </a:r>
            <a:r>
              <a:rPr lang="ko-KR" altLang="en-US" sz="1400" dirty="0"/>
              <a:t>초과 또는 비정상 값은 </a:t>
            </a:r>
            <a:r>
              <a:rPr lang="en-US" altLang="ko-KR" sz="1400" dirty="0"/>
              <a:t>999cm</a:t>
            </a:r>
            <a:r>
              <a:rPr lang="ko-KR" altLang="en-US" sz="1400" dirty="0"/>
              <a:t>로 처리</a:t>
            </a:r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518BA2-DB61-1F84-D95C-3F77BC68C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32821"/>
            <a:ext cx="5298436" cy="413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701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86C78-1531-C890-1EBA-250E2BCEC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F5A19A-1331-E803-90C0-DBB2933AB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</a:t>
            </a:r>
            <a:br>
              <a:rPr lang="en-US" altLang="ko-KR" dirty="0"/>
            </a:br>
            <a:r>
              <a:rPr lang="en-US" altLang="ko-KR" sz="1800" b="0" dirty="0" err="1"/>
              <a:t>displayLCD</a:t>
            </a:r>
            <a:r>
              <a:rPr lang="en-US" altLang="ko-KR" sz="1800" b="0" dirty="0"/>
              <a:t>(int angle, int </a:t>
            </a:r>
            <a:r>
              <a:rPr lang="en-US" altLang="ko-KR" sz="1800" b="0" dirty="0" err="1"/>
              <a:t>dist</a:t>
            </a:r>
            <a:r>
              <a:rPr lang="en-US" altLang="ko-KR" sz="1800" b="0" dirty="0"/>
              <a:t>) – LCD </a:t>
            </a:r>
            <a:r>
              <a:rPr lang="ko-KR" altLang="en-US" sz="1800" b="0" dirty="0"/>
              <a:t>출력 함수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7F5F49-C04E-A537-065F-A07E0D8D5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2"/>
            <a:ext cx="4545762" cy="459382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LCD </a:t>
            </a:r>
            <a:r>
              <a:rPr lang="ko-KR" altLang="en-US" dirty="0"/>
              <a:t>화면에 현재 스캔 각도와 거리 정보를 표시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레이더의 스캔 결과를 시각적으로 사용자에게 전달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>
              <a:buFontTx/>
              <a:buChar char="-"/>
            </a:pPr>
            <a:r>
              <a:rPr lang="en-US" altLang="ko-KR" sz="1400" dirty="0"/>
              <a:t>Angle : XX deg </a:t>
            </a:r>
            <a:r>
              <a:rPr lang="ko-KR" altLang="en-US" sz="1400" dirty="0"/>
              <a:t>출력</a:t>
            </a:r>
            <a:endParaRPr lang="en-US" altLang="ko-KR" sz="1400" dirty="0"/>
          </a:p>
          <a:p>
            <a:pPr>
              <a:buFontTx/>
              <a:buChar char="-"/>
            </a:pPr>
            <a:r>
              <a:rPr lang="ko-KR" altLang="en-US" sz="1400" dirty="0"/>
              <a:t>감지되면 </a:t>
            </a:r>
            <a:r>
              <a:rPr lang="en-US" altLang="ko-KR" sz="1400" dirty="0"/>
              <a:t>“!!DETECTED!!” </a:t>
            </a:r>
            <a:r>
              <a:rPr lang="ko-KR" altLang="en-US" sz="1400" dirty="0"/>
              <a:t>경고 문구 표시</a:t>
            </a:r>
            <a:endParaRPr lang="en-US" altLang="ko-KR" sz="1400" dirty="0"/>
          </a:p>
          <a:p>
            <a:pPr>
              <a:buFontTx/>
              <a:buChar char="-"/>
            </a:pPr>
            <a:r>
              <a:rPr lang="ko-KR" altLang="en-US" sz="1400" dirty="0"/>
              <a:t>그 외에는 </a:t>
            </a:r>
            <a:r>
              <a:rPr lang="en-US" altLang="ko-KR" sz="1400" dirty="0"/>
              <a:t>“</a:t>
            </a:r>
            <a:r>
              <a:rPr lang="en-US" altLang="ko-KR" sz="1400" dirty="0" err="1"/>
              <a:t>Dist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XXcm</a:t>
            </a:r>
            <a:r>
              <a:rPr lang="en-US" altLang="ko-KR" sz="1400" dirty="0"/>
              <a:t>“ </a:t>
            </a:r>
            <a:r>
              <a:rPr lang="ko-KR" altLang="en-US" sz="1400" dirty="0"/>
              <a:t>출력</a:t>
            </a:r>
            <a:endParaRPr lang="en-US" altLang="ko-KR" sz="1400" dirty="0"/>
          </a:p>
          <a:p>
            <a:pPr>
              <a:buFontTx/>
              <a:buChar char="-"/>
            </a:pPr>
            <a:r>
              <a:rPr lang="ko-KR" altLang="en-US" sz="1400" dirty="0"/>
              <a:t>공백을 함께 출력해 </a:t>
            </a:r>
            <a:r>
              <a:rPr lang="en-US" altLang="ko-KR" sz="1400" dirty="0"/>
              <a:t>LCD </a:t>
            </a:r>
            <a:r>
              <a:rPr lang="ko-KR" altLang="en-US" sz="1400" dirty="0"/>
              <a:t>잔상 발생 방지</a:t>
            </a:r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303EDE-37DF-B725-1B99-1ADBF2795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437" y="1537053"/>
            <a:ext cx="4942215" cy="440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379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B1C48-B966-8E62-A3EC-793B3992A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9B32E2-CF9C-533B-2B5E-F00BD8985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</a:t>
            </a:r>
            <a:br>
              <a:rPr lang="en-US" altLang="ko-KR" dirty="0"/>
            </a:br>
            <a:r>
              <a:rPr lang="en-US" altLang="ko-KR" sz="1800" b="0" dirty="0" err="1"/>
              <a:t>checkAlert</a:t>
            </a:r>
            <a:r>
              <a:rPr lang="en-US" altLang="ko-KR" sz="1800" b="0" dirty="0"/>
              <a:t>(int </a:t>
            </a:r>
            <a:r>
              <a:rPr lang="en-US" altLang="ko-KR" sz="1800" b="0" dirty="0" err="1"/>
              <a:t>dist</a:t>
            </a:r>
            <a:r>
              <a:rPr lang="en-US" altLang="ko-KR" sz="1800" b="0" dirty="0"/>
              <a:t>) – </a:t>
            </a:r>
            <a:r>
              <a:rPr lang="ko-KR" altLang="en-US" sz="1800" b="0" dirty="0" err="1"/>
              <a:t>부저</a:t>
            </a:r>
            <a:r>
              <a:rPr lang="en-US" altLang="ko-KR" sz="1800" b="0" dirty="0"/>
              <a:t>/LED </a:t>
            </a:r>
            <a:r>
              <a:rPr lang="ko-KR" altLang="en-US" sz="1800" b="0" dirty="0"/>
              <a:t>경보 함수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45814F-0FA1-7F81-3954-7262DF219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2"/>
            <a:ext cx="4545762" cy="4593828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설정한 감지 거리</a:t>
            </a:r>
            <a:r>
              <a:rPr lang="en-US" altLang="ko-KR" dirty="0"/>
              <a:t>(ALERT_DIST) </a:t>
            </a:r>
            <a:r>
              <a:rPr lang="ko-KR" altLang="en-US" dirty="0"/>
              <a:t>내부인지 여부에 따라 경보 실행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물체가 가까이 접근하면 즉시 경보를 울려 알려주는 안전 기능 담당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>
              <a:buFontTx/>
              <a:buChar char="-"/>
            </a:pPr>
            <a:r>
              <a:rPr lang="ko-KR" altLang="en-US" sz="1400" dirty="0"/>
              <a:t>거리가 사전에 설정한 거리보다 작을 경우 </a:t>
            </a:r>
            <a:r>
              <a:rPr lang="ko-KR" altLang="en-US" sz="1400" dirty="0" err="1"/>
              <a:t>부저를</a:t>
            </a:r>
            <a:r>
              <a:rPr lang="ko-KR" altLang="en-US" sz="1400" dirty="0"/>
              <a:t> 울리고 </a:t>
            </a:r>
            <a:r>
              <a:rPr lang="en-US" altLang="ko-KR" sz="1400" dirty="0"/>
              <a:t>LED</a:t>
            </a:r>
            <a:r>
              <a:rPr lang="ko-KR" altLang="en-US" sz="1400" dirty="0"/>
              <a:t>를 켠다</a:t>
            </a:r>
            <a:endParaRPr lang="en-US" altLang="ko-KR" sz="1400" dirty="0"/>
          </a:p>
          <a:p>
            <a:pPr>
              <a:buFontTx/>
              <a:buChar char="-"/>
            </a:pPr>
            <a:r>
              <a:rPr lang="ko-KR" altLang="en-US" sz="1400" dirty="0"/>
              <a:t>평상시에는 </a:t>
            </a:r>
            <a:r>
              <a:rPr lang="ko-KR" altLang="en-US" sz="1400" dirty="0" err="1"/>
              <a:t>부저와</a:t>
            </a:r>
            <a:r>
              <a:rPr lang="ko-KR" altLang="en-US" sz="1400" dirty="0"/>
              <a:t> </a:t>
            </a:r>
            <a:r>
              <a:rPr lang="en-US" altLang="ko-KR" sz="1400" dirty="0"/>
              <a:t>LED</a:t>
            </a:r>
            <a:r>
              <a:rPr lang="ko-KR" altLang="en-US" sz="1400" dirty="0"/>
              <a:t>를 모두 끈 채로 있는다</a:t>
            </a:r>
          </a:p>
        </p:txBody>
      </p:sp>
      <p:pic>
        <p:nvPicPr>
          <p:cNvPr id="5" name="그림 4" descr="텍스트, 폰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40FCB1-9D09-D802-92E5-94292C7C3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437" y="1388429"/>
            <a:ext cx="5448063" cy="462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303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74FA08-5D7B-60FE-504E-EFCDDF713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KakaoTalk_20251207_181640129">
            <a:hlinkClick r:id="" action="ppaction://media"/>
            <a:extLst>
              <a:ext uri="{FF2B5EF4-FFF2-40B4-BE49-F238E27FC236}">
                <a16:creationId xmlns:a16="http://schemas.microsoft.com/office/drawing/2014/main" id="{F48517C1-A65D-D04E-CA8E-6CE9208F594D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606990" y="-60010"/>
            <a:ext cx="6978019" cy="6978019"/>
          </a:xfrm>
        </p:spPr>
      </p:pic>
    </p:spTree>
    <p:extLst>
      <p:ext uri="{BB962C8B-B14F-4D97-AF65-F5344CB8AC3E}">
        <p14:creationId xmlns:p14="http://schemas.microsoft.com/office/powerpoint/2010/main" val="1641048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83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A0A934-FE1C-579D-F7E7-8A7049107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862871"/>
            <a:ext cx="10653578" cy="1132258"/>
          </a:xfrm>
        </p:spPr>
        <p:txBody>
          <a:bodyPr>
            <a:normAutofit/>
          </a:bodyPr>
          <a:lstStyle/>
          <a:p>
            <a:pPr algn="ctr"/>
            <a:r>
              <a:rPr lang="ko-KR" altLang="en-US" sz="7200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206547733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729</Words>
  <Application>Microsoft Office PowerPoint</Application>
  <PresentationFormat>와이드스크린</PresentationFormat>
  <Paragraphs>94</Paragraphs>
  <Slides>19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Arial</vt:lpstr>
      <vt:lpstr>Neue Haas Grotesk Text Pro</vt:lpstr>
      <vt:lpstr>Helena</vt:lpstr>
      <vt:lpstr>물체 감지 레이더(방공망)   팀 : 뚝@딱  기말 프로젝트 발표</vt:lpstr>
      <vt:lpstr>주제 선정 배경</vt:lpstr>
      <vt:lpstr>물체 감지 레이더망(방공망)</vt:lpstr>
      <vt:lpstr>목적 및 기대 효과</vt:lpstr>
      <vt:lpstr>구성</vt:lpstr>
      <vt:lpstr>각 부품 설명</vt:lpstr>
      <vt:lpstr>전체 회로 구성</vt:lpstr>
      <vt:lpstr>동작 전원 공급 및 초기화</vt:lpstr>
      <vt:lpstr>동작 주변 환경 스캐닝 시작</vt:lpstr>
      <vt:lpstr>동작 물체 감지 및 거리 측정</vt:lpstr>
      <vt:lpstr>동작 경고 및 알림</vt:lpstr>
      <vt:lpstr>CODE setup() – 초기 설정 함수</vt:lpstr>
      <vt:lpstr>CODE loop – 메인 스캔 루프</vt:lpstr>
      <vt:lpstr>CODE radarScan(int angle) – 레이더 스캔 및 처리 함수</vt:lpstr>
      <vt:lpstr>CODE calculateDistance() – 초음파 센서 거리 측정 함수</vt:lpstr>
      <vt:lpstr>CODE displayLCD(int angle, int dist) – LCD 출력 함수</vt:lpstr>
      <vt:lpstr>CODE checkAlert(int dist) – 부저/LED 경보 함수</vt:lpstr>
      <vt:lpstr>PowerPoint 프레젠테이션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동휘 신</dc:creator>
  <cp:lastModifiedBy>동휘 신</cp:lastModifiedBy>
  <cp:revision>2</cp:revision>
  <dcterms:created xsi:type="dcterms:W3CDTF">2025-12-06T13:45:13Z</dcterms:created>
  <dcterms:modified xsi:type="dcterms:W3CDTF">2025-12-07T09:18:22Z</dcterms:modified>
</cp:coreProperties>
</file>